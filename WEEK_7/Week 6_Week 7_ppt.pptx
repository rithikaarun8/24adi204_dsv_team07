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8c2641-6c17-11b7-edb0-c2acdb91e8f7}">
          <p14:sldIdLst>
            <p14:sldId id="256"/>
          </p14:sldIdLst>
        </p14:section>
        <p14:section name="Week 6 – Data Preprocessing" id="{6c632f53-e74a-0f93-1fee-0a5d65c7b89f}">
          <p14:sldIdLst>
            <p14:sldId id="257"/>
            <p14:sldId id="258"/>
            <p14:sldId id="259"/>
            <p14:sldId id="260"/>
          </p14:sldIdLst>
        </p14:section>
        <p14:section name="Week 7 – Dimensionality Reduction" id="{a4e6bb42-87d5-9628-cba2-278df4378d0e}">
          <p14:sldIdLst>
            <p14:sldId id="261"/>
            <p14:sldId id="262"/>
            <p14:sldId id="263"/>
          </p14:sldIdLst>
        </p14:section>
        <p14:section name="Wrap-up" id="{9e60d7ef-e677-f7fd-f56b-7e293c233043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213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0213F"/>
                </a:solidFill>
                <a:latin typeface="+mn-lt"/>
              </a:rPr>
              <a:t>Sales skewness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skewness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02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5F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(raw)</c:v>
                  </c:pt>
                  <c:pt idx="1">
                    <c:v>After (log)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2.884</c:v>
                </c:pt>
                <c:pt idx="1">
                  <c:v>-0.679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02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-1.5"/>
        </c:scaling>
        <c:delete val="0"/>
        <c:axPos val="l"/>
        <c:majorGridlines>
          <c:spPr>
            <a:ln w="6350" cap="flat">
              <a:solidFill>
                <a:srgbClr val="CFE3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FB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FE3F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Retained (26 PCs)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95.01</c:v>
                </c:pt>
                <c:pt idx="1">
                  <c:v>4.99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count is intentionally left off this slide: the Week 6 and Week 7 notes mention different dataset sizes (180,519 and 46,650). Confirm which dataset version the presentation uses before adding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visual: before-and-after comparison of numerical feature scales from your notebook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illustrative table with the actual encoded Shipping Mode columns from your notebook if you prefer.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visual: Sales distribution histograms before and after the log transformation. The chart shown uses the reported skewness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visual: insert your actual top-10 feature importance (horizontal bar) chart from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visual: insert the actual cumulative explained variance curve from the notebook and mark the 95.01% point at 26 components. The doughnut shown uses the reported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9601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Black Friday Logistics Nightmare  |  24ADI204 DSV Team 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PROJECT 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9601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BLACK FRIDAY LOGISTICS NIGHTMARE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Data Preprocessing, Feature Selection &amp; PCA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Subject: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Data Science and Visualization – 24ADI204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Repository: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24ADI204_DSV_Team07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FOCUS AREAS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137617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Normalization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34540" y="4160520"/>
            <a:ext cx="90982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Scaling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54096" y="4160520"/>
            <a:ext cx="98755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Encoding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51376" y="4160520"/>
            <a:ext cx="1842516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Skewness Correction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03620" y="4160520"/>
            <a:ext cx="168706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Feature Selection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900416" y="4160520"/>
            <a:ext cx="59893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PROJECT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Overview &amp; Objectives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3977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Analyze supply chain data to understand logistics and delivery performance.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709160" y="1371600"/>
            <a:ext cx="3977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463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Prepare the dataset for machine learning using data preprocessing techniques.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57200" y="2560320"/>
            <a:ext cx="3977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important features related to late delivery risk.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709160" y="2560320"/>
            <a:ext cx="3977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Reduce dataset complexity using feature selection and PCA.</a:t>
            </a:r>
            <a:endParaRPr lang="en-US" sz="1400" dirty="0"/>
          </a:p>
        </p:txBody>
      </p:sp>
      <p:sp>
        <p:nvSpPr>
          <p:cNvPr id="16" name="Objective"/>
          <p:cNvSpPr txBox="1"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Objective: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Transform raw features into a suitable format for efficient predictive analysis.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 6  ·  PRESENTER: NEHA O 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Normalization &amp; Scaling</a:t>
            </a:r>
            <a:endParaRPr lang="en-US" sz="34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371600"/>
            <a:ext cx="4572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Applied Min-Max Normalization to Sales, Order Item Quantity and Product Price.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Converted selected values into a range between 0 and 1.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Used StandardScaler to standardize numerical features.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Helped handle differences in feature scales.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Prepared numerical data for machine learning.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303520" y="1371600"/>
            <a:ext cx="33832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Min-Max Normalization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764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x′ = (x − min) / (max − min)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066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Range: 0 → 1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303520" y="2651760"/>
            <a:ext cx="33832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StandardScaler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3044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 = (x − μ) / σ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346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Mean 0  ·  Std 1</a:t>
            </a:r>
            <a:endParaRPr lang="en-US" sz="1200" dirty="0"/>
          </a:p>
        </p:txBody>
      </p:sp>
      <p:sp>
        <p:nvSpPr>
          <p:cNvPr id="13" name="Key result"/>
          <p:cNvSpPr txBox="1"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Result: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Numerical features were transformed into comparable scales.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 6  ·  PRESENTER: NITHARSHANA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Encoding Categorical Values</a:t>
            </a:r>
            <a:endParaRPr lang="en-US" sz="34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3716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Selected 7 categorical features related to shipping and orders.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Applied One-Hot Encoding to convert categories into numerical columns.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Used most-frequent imputation to handle missing categorical values.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Combined encoding with numerical preprocessing in a Scikit-learn pipeline.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Made categorical data suitable for machine learning algorithms.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120640" y="137160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graphicFrame>
        <p:nvGraphicFramePr>
          <p:cNvPr id="5" name="One-hot exa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55448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Shipping Mode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Standard Class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First Class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Same Day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Standard Class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First Class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Same Day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25780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Illustrative one-hot example</a:t>
            </a:r>
            <a:endParaRPr lang="en-US" sz="1000" dirty="0"/>
          </a:p>
        </p:txBody>
      </p:sp>
      <p:sp>
        <p:nvSpPr>
          <p:cNvPr id="8" name="Key result"/>
          <p:cNvSpPr txBox="1"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Result: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Categorical variables were converted into a machine-readable format.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 6  ·  PRESENTER: RITHIKA A 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Fixing Skewness</a:t>
            </a:r>
            <a:endParaRPr lang="en-US" sz="34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Analyzed numerical feature distributions using skewness.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Identified positive skewness in the Sales feature.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Applied a logarithmic transformation to Sales.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Reduced Sales skewness from 2.884 to −0.679.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Improved the distribution's symmetry.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846320" y="1325880"/>
            <a:ext cx="384048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937760" y="1371600"/>
          <a:ext cx="36576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kewness stat"/>
          <p:cNvSpPr txBox="1"/>
          <p:nvPr/>
        </p:nvSpPr>
        <p:spPr>
          <a:xfrm>
            <a:off x="457200" y="3931920"/>
            <a:ext cx="35661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2.884 → −0.679</a:t>
            </a:r>
            <a:endParaRPr lang="en-US" sz="2600" dirty="0"/>
          </a:p>
        </p:txBody>
      </p:sp>
      <p:sp>
        <p:nvSpPr>
          <p:cNvPr id="8" name="Key result"/>
          <p:cNvSpPr txBox="1"/>
          <p:nvPr/>
        </p:nvSpPr>
        <p:spPr>
          <a:xfrm>
            <a:off x="4160520" y="3931920"/>
            <a:ext cx="45262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Result: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Log transformation reduced the strong positive skewness in Sales.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 7  ·  PRESENTER: SHUBIKSHA S 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Feature Selection</a:t>
            </a:r>
            <a:endParaRPr lang="en-US" sz="34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371600"/>
            <a:ext cx="4297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Started with 11 numerical and 7 categorical features.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Preprocessing generated 103 numerical features after encoding.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Applied SelectKBest with Mutual Information.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Selected the top 10 most relevant features for late delivery risk prediction.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Visualized the selected features using a horizontal bar chart.</a:t>
            </a:r>
            <a:endParaRPr lang="en-US" sz="1400" dirty="0"/>
          </a:p>
        </p:txBody>
      </p:sp>
      <p:sp>
        <p:nvSpPr>
          <p:cNvPr id="5" name="Funnel step"/>
          <p:cNvSpPr txBox="1"/>
          <p:nvPr/>
        </p:nvSpPr>
        <p:spPr>
          <a:xfrm>
            <a:off x="5029200" y="137160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8EC1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13F"/>
                </a:solidFill>
              </a:rPr>
              <a:t>18</a:t>
            </a:r>
            <a:pPr algn="ctr" indent="0" marL="0">
              <a:buNone/>
            </a:pPr>
            <a:r>
              <a:rPr lang="en-US" sz="1300" dirty="0">
                <a:solidFill>
                  <a:srgbClr val="10213F"/>
                </a:solidFill>
              </a:rPr>
              <a:t>  raw features</a:t>
            </a:r>
            <a:endParaRPr lang="en-US" sz="2600" dirty="0"/>
          </a:p>
        </p:txBody>
      </p:sp>
      <p:sp>
        <p:nvSpPr>
          <p:cNvPr id="6" name="Funnel step"/>
          <p:cNvSpPr txBox="1"/>
          <p:nvPr/>
        </p:nvSpPr>
        <p:spPr>
          <a:xfrm>
            <a:off x="5394960" y="219456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3A8D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103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processed features</a:t>
            </a:r>
            <a:endParaRPr lang="en-US" sz="2600" dirty="0"/>
          </a:p>
        </p:txBody>
      </p:sp>
      <p:sp>
        <p:nvSpPr>
          <p:cNvPr id="7" name="Funnel step"/>
          <p:cNvSpPr txBox="1"/>
          <p:nvPr/>
        </p:nvSpPr>
        <p:spPr>
          <a:xfrm>
            <a:off x="5760720" y="301752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0B1F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524"/>
                </a:solidFill>
              </a:rPr>
              <a:t>10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selected features</a:t>
            </a:r>
            <a:endParaRPr lang="en-US" sz="2600" dirty="0"/>
          </a:p>
        </p:txBody>
      </p:sp>
      <p:sp>
        <p:nvSpPr>
          <p:cNvPr id="8" name="Key result"/>
          <p:cNvSpPr txBox="1"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Result: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Reduced the feature set from 103 processed features to 10 selected features.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 7  ·  DIMENSIONALITY REDUCTION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Principal Component Analysis</a:t>
            </a:r>
            <a:endParaRPr lang="en-US" sz="34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37160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Applied PCA to reduce the dimensionality of the processed dataset.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Transformed 103 processed features into 26 principal components.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Combined information from the original features into new components.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Reduced data complexity while retaining most of the information.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Prepared a compact representation for further analysis.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325880"/>
            <a:ext cx="292608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103</a:t>
            </a:r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original features</a:t>
            </a:r>
            <a:endParaRPr lang="en-US" sz="3000" dirty="0"/>
          </a:p>
        </p:txBody>
      </p:sp>
      <p:sp>
        <p:nvSpPr>
          <p:cNvPr id="6" name="Arrow"/>
          <p:cNvSpPr/>
          <p:nvPr/>
        </p:nvSpPr>
        <p:spPr>
          <a:xfrm>
            <a:off x="6629400" y="2194560"/>
            <a:ext cx="457200" cy="50292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PCA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788920"/>
            <a:ext cx="292608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26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 principal components</a:t>
            </a:r>
            <a:endParaRPr lang="en-US" sz="3000" dirty="0"/>
          </a:p>
        </p:txBody>
      </p:sp>
      <p:sp>
        <p:nvSpPr>
          <p:cNvPr id="9" name="Key result"/>
          <p:cNvSpPr txBox="1"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Result: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Reduced 103 features to 26 principal components.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 7  ·  PRESENTER: GOPIKA 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Visualizing Explained Variance</a:t>
            </a:r>
            <a:endParaRPr lang="en-US" sz="34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37160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Analyzed the variance captured by each principal component.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Plotted cumulative explained variance against the number of components.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Identified 26 components as the selected dimensionality.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Retained approximately 95.01% of the total variance.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Used the graph to understand the trade-off between fewer features and retained information.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120640" y="1325880"/>
            <a:ext cx="356616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212080" y="1371600"/>
          <a:ext cx="33832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63640" y="22219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95.01%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26 of 103 features retain 95.01% of variance</a:t>
            </a:r>
            <a:endParaRPr lang="en-US" sz="1100" dirty="0"/>
          </a:p>
        </p:txBody>
      </p:sp>
      <p:sp>
        <p:nvSpPr>
          <p:cNvPr id="9" name="Key result"/>
          <p:cNvSpPr txBox="1"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Result: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26 principal components retained approximately 95.01% of the variance.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 &amp; Key Outcomes</a:t>
            </a:r>
            <a:endParaRPr lang="en-US" sz="3400" dirty="0"/>
          </a:p>
        </p:txBody>
      </p:sp>
      <p:sp>
        <p:nvSpPr>
          <p:cNvPr id="4" name="Stat tile"/>
          <p:cNvSpPr/>
          <p:nvPr/>
        </p:nvSpPr>
        <p:spPr>
          <a:xfrm>
            <a:off x="457200" y="13258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2.884 → −0.679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Sales skewness</a:t>
            </a:r>
            <a:endParaRPr lang="en-US" sz="1200" dirty="0"/>
          </a:p>
        </p:txBody>
      </p:sp>
      <p:sp>
        <p:nvSpPr>
          <p:cNvPr id="7" name="Stat tile"/>
          <p:cNvSpPr/>
          <p:nvPr/>
        </p:nvSpPr>
        <p:spPr>
          <a:xfrm>
            <a:off x="3291840" y="13258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103 → 10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Features selected (Mutual Information)</a:t>
            </a:r>
            <a:endParaRPr lang="en-US" sz="1200" dirty="0"/>
          </a:p>
        </p:txBody>
      </p:sp>
      <p:sp>
        <p:nvSpPr>
          <p:cNvPr id="10" name="Stat tile"/>
          <p:cNvSpPr/>
          <p:nvPr/>
        </p:nvSpPr>
        <p:spPr>
          <a:xfrm>
            <a:off x="6126480" y="13258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103 → 26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Principal components, 95.01% variance</a:t>
            </a:r>
            <a:endParaRPr lang="en-US" sz="1200" dirty="0"/>
          </a:p>
        </p:txBody>
      </p:sp>
      <p:sp>
        <p:nvSpPr>
          <p:cNvPr id="13" name="Bullets"/>
          <p:cNvSpPr txBox="1"/>
          <p:nvPr/>
        </p:nvSpPr>
        <p:spPr>
          <a:xfrm>
            <a:off x="457200" y="26974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Normalized and standardized numerical features.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Encoded categorical variables for machine learning.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Applied log transform, feature selection and PCA to simplify the dataset.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Prepared the dataset for further machine learning and late delivery risk prediction.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Conclusion: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Data preprocessing and dimensionality reduction simplified the dataset while preserving important information for predictive analysis.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Presented By</a:t>
            </a:r>
            <a:endParaRPr lang="en-US" sz="3600" dirty="0"/>
          </a:p>
        </p:txBody>
      </p:sp>
      <p:sp>
        <p:nvSpPr>
          <p:cNvPr id="3" name="Presenter row"/>
          <p:cNvSpPr/>
          <p:nvPr/>
        </p:nvSpPr>
        <p:spPr>
          <a:xfrm>
            <a:off x="548640" y="1417320"/>
            <a:ext cx="512064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517904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Neha O 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Normalization and Scaling</a:t>
            </a:r>
            <a:endParaRPr lang="en-US" sz="1400" dirty="0"/>
          </a:p>
        </p:txBody>
      </p:sp>
      <p:sp>
        <p:nvSpPr>
          <p:cNvPr id="6" name="Presenter row"/>
          <p:cNvSpPr/>
          <p:nvPr/>
        </p:nvSpPr>
        <p:spPr>
          <a:xfrm>
            <a:off x="548640" y="2075688"/>
            <a:ext cx="512064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2176272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756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Nitharshana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Encoding &amp; Categorical Values</a:t>
            </a:r>
            <a:endParaRPr lang="en-US" sz="1400" dirty="0"/>
          </a:p>
        </p:txBody>
      </p:sp>
      <p:sp>
        <p:nvSpPr>
          <p:cNvPr id="9" name="Presenter row"/>
          <p:cNvSpPr/>
          <p:nvPr/>
        </p:nvSpPr>
        <p:spPr>
          <a:xfrm>
            <a:off x="548640" y="2734056"/>
            <a:ext cx="512064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834640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3405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Rithika A 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Fixing Skewness</a:t>
            </a:r>
            <a:endParaRPr lang="en-US" sz="1400" dirty="0"/>
          </a:p>
        </p:txBody>
      </p:sp>
      <p:sp>
        <p:nvSpPr>
          <p:cNvPr id="12" name="Presenter row"/>
          <p:cNvSpPr/>
          <p:nvPr/>
        </p:nvSpPr>
        <p:spPr>
          <a:xfrm>
            <a:off x="548640" y="3392424"/>
            <a:ext cx="512064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493008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9242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Shubiksha S 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Implementing Feature Selection and PCA</a:t>
            </a:r>
            <a:endParaRPr lang="en-US" sz="1400" dirty="0"/>
          </a:p>
        </p:txBody>
      </p:sp>
      <p:sp>
        <p:nvSpPr>
          <p:cNvPr id="15" name="Presenter row"/>
          <p:cNvSpPr/>
          <p:nvPr/>
        </p:nvSpPr>
        <p:spPr>
          <a:xfrm>
            <a:off x="548640" y="4050792"/>
            <a:ext cx="512064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4151376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507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Gopika 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Visualizing Variance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27432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Project: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Black Friday Logistics Nightmare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Subject: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Data Science and Visualization – 24ADI204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Repository: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24ADI204_DSV_Team07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 Friday Logistics">
  <a:themeElements>
    <a:clrScheme name="Black Friday Logistics">
      <a:dk1>
        <a:srgbClr val="10213F"/>
      </a:dk1>
      <a:lt1>
        <a:srgbClr val="FFFFFF"/>
      </a:lt1>
      <a:dk2>
        <a:srgbClr val="0B1F4B"/>
      </a:dk2>
      <a:lt2>
        <a:srgbClr val="EAF3FC"/>
      </a:lt2>
      <a:accent1>
        <a:srgbClr val="1F5FBF"/>
      </a:accent1>
      <a:accent2>
        <a:srgbClr val="8EC1EE"/>
      </a:accent2>
      <a:accent3>
        <a:srgbClr val="F5A524"/>
      </a:accent3>
      <a:accent4>
        <a:srgbClr val="3A8DDE"/>
      </a:accent4>
      <a:accent5>
        <a:srgbClr val="5B6B8C"/>
      </a:accent5>
      <a:accent6>
        <a:srgbClr val="CFE3F7"/>
      </a:accent6>
      <a:hlink>
        <a:srgbClr val="1F5FBF"/>
      </a:hlink>
      <a:folHlink>
        <a:srgbClr val="5B6B8C"/>
      </a:folHlink>
    </a:clrScheme>
    <a:fontScheme name="Black Friday Logis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Friday Logistics Nightmare</dc:title>
  <dc:subject>PptxGenJS Presentation</dc:subject>
  <dc:creator>24ADI204_DSV_Team07</dc:creator>
  <cp:lastModifiedBy>24ADI204_DSV_Team07</cp:lastModifiedBy>
  <cp:revision>1</cp:revision>
  <dcterms:created xsi:type="dcterms:W3CDTF">2026-10-14T06:22:48Z</dcterms:created>
  <dcterms:modified xsi:type="dcterms:W3CDTF">2026-10-14T06:22:48Z</dcterms:modified>
</cp:coreProperties>
</file>